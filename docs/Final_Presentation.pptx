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8288000" cy="10287000"/>
  <p:notesSz cx="6858000" cy="9144000"/>
  <p:embeddedFontLst>
    <p:embeddedFont>
      <p:font typeface="Montserrat Bold" charset="1" panose="00000800000000000000"/>
      <p:regular r:id="rId10"/>
    </p:embeddedFont>
    <p:embeddedFont>
      <p:font typeface="Source Sans 3" charset="1" panose="020B0303030403020204"/>
      <p:regular r:id="rId11"/>
    </p:embeddedFont>
    <p:embeddedFont>
      <p:font typeface="Source Sans 3 Bold" charset="1" panose="020B030303040302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1046" y="2187784"/>
            <a:ext cx="5023569" cy="958384"/>
            <a:chOff x="0" y="0"/>
            <a:chExt cx="6400078" cy="1220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00066" cy="1220978"/>
            </a:xfrm>
            <a:custGeom>
              <a:avLst/>
              <a:gdLst/>
              <a:ahLst/>
              <a:cxnLst/>
              <a:rect r="r" b="b" t="t" l="l"/>
              <a:pathLst>
                <a:path h="1220978" w="6400066">
                  <a:moveTo>
                    <a:pt x="0" y="30734"/>
                  </a:moveTo>
                  <a:cubicBezTo>
                    <a:pt x="0" y="13716"/>
                    <a:pt x="11984" y="0"/>
                    <a:pt x="26853" y="0"/>
                  </a:cubicBezTo>
                  <a:lnTo>
                    <a:pt x="6373214" y="0"/>
                  </a:lnTo>
                  <a:cubicBezTo>
                    <a:pt x="6388083" y="0"/>
                    <a:pt x="6400066" y="13716"/>
                    <a:pt x="6400066" y="30734"/>
                  </a:cubicBezTo>
                  <a:lnTo>
                    <a:pt x="6400066" y="1190244"/>
                  </a:lnTo>
                  <a:cubicBezTo>
                    <a:pt x="6400066" y="1207262"/>
                    <a:pt x="6388083" y="1220978"/>
                    <a:pt x="6373214" y="1220978"/>
                  </a:cubicBezTo>
                  <a:lnTo>
                    <a:pt x="26853" y="1220978"/>
                  </a:lnTo>
                  <a:cubicBezTo>
                    <a:pt x="11984" y="1220978"/>
                    <a:pt x="0" y="1207262"/>
                    <a:pt x="0" y="1190244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474723" y="168612"/>
            <a:ext cx="3384887" cy="1538592"/>
            <a:chOff x="0" y="0"/>
            <a:chExt cx="30175056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175057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0175057">
                  <a:moveTo>
                    <a:pt x="0" y="0"/>
                  </a:moveTo>
                  <a:lnTo>
                    <a:pt x="30175057" y="0"/>
                  </a:lnTo>
                  <a:lnTo>
                    <a:pt x="30175057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l="0" t="-3633" r="0" b="-363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6276" y="2187784"/>
            <a:ext cx="5843978" cy="974079"/>
            <a:chOff x="0" y="0"/>
            <a:chExt cx="7325322" cy="12209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25360" cy="1220978"/>
            </a:xfrm>
            <a:custGeom>
              <a:avLst/>
              <a:gdLst/>
              <a:ahLst/>
              <a:cxnLst/>
              <a:rect r="r" b="b" t="t" l="l"/>
              <a:pathLst>
                <a:path h="1220978" w="7325360">
                  <a:moveTo>
                    <a:pt x="0" y="30734"/>
                  </a:moveTo>
                  <a:cubicBezTo>
                    <a:pt x="0" y="13716"/>
                    <a:pt x="13716" y="0"/>
                    <a:pt x="30734" y="0"/>
                  </a:cubicBezTo>
                  <a:lnTo>
                    <a:pt x="7294626" y="0"/>
                  </a:lnTo>
                  <a:cubicBezTo>
                    <a:pt x="7311644" y="0"/>
                    <a:pt x="7325360" y="13716"/>
                    <a:pt x="7325360" y="30734"/>
                  </a:cubicBezTo>
                  <a:lnTo>
                    <a:pt x="7325360" y="1190244"/>
                  </a:lnTo>
                  <a:cubicBezTo>
                    <a:pt x="7325360" y="1207262"/>
                    <a:pt x="7311644" y="1220978"/>
                    <a:pt x="7294626" y="1220978"/>
                  </a:cubicBezTo>
                  <a:lnTo>
                    <a:pt x="30734" y="1220978"/>
                  </a:lnTo>
                  <a:cubicBezTo>
                    <a:pt x="13716" y="1220978"/>
                    <a:pt x="0" y="1207262"/>
                    <a:pt x="0" y="1190244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029149" y="2187784"/>
            <a:ext cx="4629038" cy="1063807"/>
            <a:chOff x="0" y="0"/>
            <a:chExt cx="5313005" cy="1220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2996" cy="1220978"/>
            </a:xfrm>
            <a:custGeom>
              <a:avLst/>
              <a:gdLst/>
              <a:ahLst/>
              <a:cxnLst/>
              <a:rect r="r" b="b" t="t" l="l"/>
              <a:pathLst>
                <a:path h="1220978" w="5312996">
                  <a:moveTo>
                    <a:pt x="0" y="30734"/>
                  </a:moveTo>
                  <a:cubicBezTo>
                    <a:pt x="0" y="13716"/>
                    <a:pt x="9948" y="0"/>
                    <a:pt x="22292" y="0"/>
                  </a:cubicBezTo>
                  <a:lnTo>
                    <a:pt x="5290704" y="0"/>
                  </a:lnTo>
                  <a:cubicBezTo>
                    <a:pt x="5303048" y="0"/>
                    <a:pt x="5312996" y="13716"/>
                    <a:pt x="5312996" y="30734"/>
                  </a:cubicBezTo>
                  <a:lnTo>
                    <a:pt x="5312996" y="1190244"/>
                  </a:lnTo>
                  <a:cubicBezTo>
                    <a:pt x="5312996" y="1207262"/>
                    <a:pt x="5303048" y="1220978"/>
                    <a:pt x="5290704" y="1220978"/>
                  </a:cubicBezTo>
                  <a:lnTo>
                    <a:pt x="22292" y="1220978"/>
                  </a:lnTo>
                  <a:cubicBezTo>
                    <a:pt x="9948" y="1220978"/>
                    <a:pt x="0" y="1207262"/>
                    <a:pt x="0" y="1190244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65821" y="9270414"/>
            <a:ext cx="17092365" cy="1016586"/>
            <a:chOff x="0" y="0"/>
            <a:chExt cx="22789820" cy="13554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789872" cy="1355419"/>
            </a:xfrm>
            <a:custGeom>
              <a:avLst/>
              <a:gdLst/>
              <a:ahLst/>
              <a:cxnLst/>
              <a:rect r="r" b="b" t="t" l="l"/>
              <a:pathLst>
                <a:path h="1355419" w="22789872">
                  <a:moveTo>
                    <a:pt x="0" y="70707"/>
                  </a:moveTo>
                  <a:cubicBezTo>
                    <a:pt x="0" y="31555"/>
                    <a:pt x="14094" y="0"/>
                    <a:pt x="31580" y="0"/>
                  </a:cubicBezTo>
                  <a:lnTo>
                    <a:pt x="22758293" y="0"/>
                  </a:lnTo>
                  <a:cubicBezTo>
                    <a:pt x="22775779" y="0"/>
                    <a:pt x="22789872" y="31555"/>
                    <a:pt x="22789872" y="70707"/>
                  </a:cubicBezTo>
                  <a:lnTo>
                    <a:pt x="22789872" y="1284712"/>
                  </a:lnTo>
                  <a:cubicBezTo>
                    <a:pt x="22789872" y="1323863"/>
                    <a:pt x="22775779" y="1355419"/>
                    <a:pt x="22758293" y="1355419"/>
                  </a:cubicBezTo>
                  <a:lnTo>
                    <a:pt x="31580" y="1355419"/>
                  </a:lnTo>
                  <a:cubicBezTo>
                    <a:pt x="14094" y="1355419"/>
                    <a:pt x="0" y="1323863"/>
                    <a:pt x="0" y="1284712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17216" y="7342344"/>
            <a:ext cx="3251472" cy="1889227"/>
            <a:chOff x="0" y="0"/>
            <a:chExt cx="5493741" cy="31920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5468366" cy="3166745"/>
            </a:xfrm>
            <a:custGeom>
              <a:avLst/>
              <a:gdLst/>
              <a:ahLst/>
              <a:cxnLst/>
              <a:rect r="r" b="b" t="t" l="l"/>
              <a:pathLst>
                <a:path h="3166745" w="5468366">
                  <a:moveTo>
                    <a:pt x="0" y="30734"/>
                  </a:moveTo>
                  <a:cubicBezTo>
                    <a:pt x="0" y="13716"/>
                    <a:pt x="13843" y="0"/>
                    <a:pt x="30861" y="0"/>
                  </a:cubicBezTo>
                  <a:lnTo>
                    <a:pt x="5437505" y="0"/>
                  </a:lnTo>
                  <a:cubicBezTo>
                    <a:pt x="5454523" y="0"/>
                    <a:pt x="5468366" y="13716"/>
                    <a:pt x="5468366" y="30734"/>
                  </a:cubicBezTo>
                  <a:lnTo>
                    <a:pt x="5468366" y="3136011"/>
                  </a:lnTo>
                  <a:cubicBezTo>
                    <a:pt x="5468366" y="3153029"/>
                    <a:pt x="5454523" y="3166745"/>
                    <a:pt x="5437505" y="3166745"/>
                  </a:cubicBezTo>
                  <a:lnTo>
                    <a:pt x="30861" y="3166745"/>
                  </a:lnTo>
                  <a:cubicBezTo>
                    <a:pt x="13843" y="3166745"/>
                    <a:pt x="0" y="3153029"/>
                    <a:pt x="0" y="3136011"/>
                  </a:cubicBezTo>
                  <a:close/>
                </a:path>
              </a:pathLst>
            </a:custGeom>
            <a:blipFill>
              <a:blip r:embed="rId4"/>
              <a:stretch>
                <a:fillRect l="-910" t="0" r="-91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93766" cy="3192145"/>
            </a:xfrm>
            <a:custGeom>
              <a:avLst/>
              <a:gdLst/>
              <a:ahLst/>
              <a:cxnLst/>
              <a:rect r="r" b="b" t="t" l="l"/>
              <a:pathLst>
                <a:path h="3192145" w="5493766">
                  <a:moveTo>
                    <a:pt x="0" y="43434"/>
                  </a:moveTo>
                  <a:cubicBezTo>
                    <a:pt x="0" y="19431"/>
                    <a:pt x="19558" y="0"/>
                    <a:pt x="43561" y="0"/>
                  </a:cubicBezTo>
                  <a:lnTo>
                    <a:pt x="5450205" y="0"/>
                  </a:lnTo>
                  <a:lnTo>
                    <a:pt x="5450205" y="12700"/>
                  </a:lnTo>
                  <a:lnTo>
                    <a:pt x="5450205" y="0"/>
                  </a:lnTo>
                  <a:cubicBezTo>
                    <a:pt x="5474208" y="0"/>
                    <a:pt x="5493766" y="19431"/>
                    <a:pt x="5493766" y="43434"/>
                  </a:cubicBezTo>
                  <a:lnTo>
                    <a:pt x="5481066" y="43434"/>
                  </a:lnTo>
                  <a:lnTo>
                    <a:pt x="5493766" y="43434"/>
                  </a:lnTo>
                  <a:lnTo>
                    <a:pt x="5493766" y="3148711"/>
                  </a:lnTo>
                  <a:lnTo>
                    <a:pt x="5481066" y="3148711"/>
                  </a:lnTo>
                  <a:lnTo>
                    <a:pt x="5493766" y="3148711"/>
                  </a:lnTo>
                  <a:cubicBezTo>
                    <a:pt x="5493766" y="3172714"/>
                    <a:pt x="5474208" y="3192145"/>
                    <a:pt x="5450205" y="3192145"/>
                  </a:cubicBezTo>
                  <a:lnTo>
                    <a:pt x="5450205" y="3179445"/>
                  </a:lnTo>
                  <a:lnTo>
                    <a:pt x="5450205" y="3192145"/>
                  </a:lnTo>
                  <a:lnTo>
                    <a:pt x="43561" y="3192145"/>
                  </a:lnTo>
                  <a:lnTo>
                    <a:pt x="43561" y="3179445"/>
                  </a:lnTo>
                  <a:lnTo>
                    <a:pt x="43561" y="3192145"/>
                  </a:lnTo>
                  <a:cubicBezTo>
                    <a:pt x="19558" y="3192145"/>
                    <a:pt x="0" y="3172714"/>
                    <a:pt x="0" y="3148711"/>
                  </a:cubicBezTo>
                  <a:lnTo>
                    <a:pt x="0" y="43434"/>
                  </a:lnTo>
                  <a:lnTo>
                    <a:pt x="12700" y="43434"/>
                  </a:lnTo>
                  <a:lnTo>
                    <a:pt x="0" y="43434"/>
                  </a:lnTo>
                  <a:moveTo>
                    <a:pt x="25400" y="43434"/>
                  </a:moveTo>
                  <a:lnTo>
                    <a:pt x="25400" y="3148711"/>
                  </a:lnTo>
                  <a:lnTo>
                    <a:pt x="12700" y="3148711"/>
                  </a:lnTo>
                  <a:lnTo>
                    <a:pt x="25400" y="3148711"/>
                  </a:lnTo>
                  <a:cubicBezTo>
                    <a:pt x="25400" y="3158617"/>
                    <a:pt x="33528" y="3166745"/>
                    <a:pt x="43561" y="3166745"/>
                  </a:cubicBezTo>
                  <a:lnTo>
                    <a:pt x="5450205" y="3166745"/>
                  </a:lnTo>
                  <a:cubicBezTo>
                    <a:pt x="5460238" y="3166745"/>
                    <a:pt x="5468366" y="3158617"/>
                    <a:pt x="5468366" y="3148711"/>
                  </a:cubicBezTo>
                  <a:lnTo>
                    <a:pt x="5468366" y="43434"/>
                  </a:lnTo>
                  <a:cubicBezTo>
                    <a:pt x="5468366" y="33528"/>
                    <a:pt x="5460238" y="25400"/>
                    <a:pt x="5450205" y="25400"/>
                  </a:cubicBezTo>
                  <a:lnTo>
                    <a:pt x="43561" y="25400"/>
                  </a:lnTo>
                  <a:lnTo>
                    <a:pt x="43561" y="12700"/>
                  </a:lnTo>
                  <a:lnTo>
                    <a:pt x="43561" y="25400"/>
                  </a:lnTo>
                  <a:cubicBezTo>
                    <a:pt x="33528" y="25400"/>
                    <a:pt x="25400" y="33528"/>
                    <a:pt x="25400" y="43434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511781" y="7342344"/>
            <a:ext cx="3718693" cy="1889227"/>
            <a:chOff x="0" y="0"/>
            <a:chExt cx="4530162" cy="23014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30174" cy="2301494"/>
            </a:xfrm>
            <a:custGeom>
              <a:avLst/>
              <a:gdLst/>
              <a:ahLst/>
              <a:cxnLst/>
              <a:rect r="r" b="b" t="t" l="l"/>
              <a:pathLst>
                <a:path h="2301494" w="4530174">
                  <a:moveTo>
                    <a:pt x="0" y="0"/>
                  </a:moveTo>
                  <a:lnTo>
                    <a:pt x="4530174" y="0"/>
                  </a:lnTo>
                  <a:lnTo>
                    <a:pt x="4530174" y="2301494"/>
                  </a:lnTo>
                  <a:lnTo>
                    <a:pt x="0" y="2301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991" r="0" b="-499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637753" y="7316634"/>
            <a:ext cx="3362696" cy="1953780"/>
            <a:chOff x="0" y="0"/>
            <a:chExt cx="5493944" cy="31920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5468620" cy="3166745"/>
            </a:xfrm>
            <a:custGeom>
              <a:avLst/>
              <a:gdLst/>
              <a:ahLst/>
              <a:cxnLst/>
              <a:rect r="r" b="b" t="t" l="l"/>
              <a:pathLst>
                <a:path h="3166745" w="5468620">
                  <a:moveTo>
                    <a:pt x="0" y="30734"/>
                  </a:moveTo>
                  <a:cubicBezTo>
                    <a:pt x="0" y="13716"/>
                    <a:pt x="13843" y="0"/>
                    <a:pt x="30861" y="0"/>
                  </a:cubicBezTo>
                  <a:lnTo>
                    <a:pt x="5437759" y="0"/>
                  </a:lnTo>
                  <a:cubicBezTo>
                    <a:pt x="5454777" y="0"/>
                    <a:pt x="5468620" y="13716"/>
                    <a:pt x="5468620" y="30734"/>
                  </a:cubicBezTo>
                  <a:lnTo>
                    <a:pt x="5468620" y="3136011"/>
                  </a:lnTo>
                  <a:cubicBezTo>
                    <a:pt x="5468620" y="3153029"/>
                    <a:pt x="5454777" y="3166745"/>
                    <a:pt x="5437759" y="3166745"/>
                  </a:cubicBezTo>
                  <a:lnTo>
                    <a:pt x="30861" y="3166745"/>
                  </a:lnTo>
                  <a:cubicBezTo>
                    <a:pt x="13843" y="3166745"/>
                    <a:pt x="0" y="3153029"/>
                    <a:pt x="0" y="3136011"/>
                  </a:cubicBezTo>
                  <a:close/>
                </a:path>
              </a:pathLst>
            </a:custGeom>
            <a:blipFill>
              <a:blip r:embed="rId6"/>
              <a:stretch>
                <a:fillRect l="0" t="0" r="-2946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94020" cy="3192145"/>
            </a:xfrm>
            <a:custGeom>
              <a:avLst/>
              <a:gdLst/>
              <a:ahLst/>
              <a:cxnLst/>
              <a:rect r="r" b="b" t="t" l="l"/>
              <a:pathLst>
                <a:path h="3192145" w="5494020">
                  <a:moveTo>
                    <a:pt x="0" y="43434"/>
                  </a:moveTo>
                  <a:cubicBezTo>
                    <a:pt x="0" y="19431"/>
                    <a:pt x="19558" y="0"/>
                    <a:pt x="43561" y="0"/>
                  </a:cubicBezTo>
                  <a:lnTo>
                    <a:pt x="5450459" y="0"/>
                  </a:lnTo>
                  <a:lnTo>
                    <a:pt x="5450459" y="12700"/>
                  </a:lnTo>
                  <a:lnTo>
                    <a:pt x="5450459" y="0"/>
                  </a:lnTo>
                  <a:cubicBezTo>
                    <a:pt x="5474462" y="0"/>
                    <a:pt x="5494020" y="19431"/>
                    <a:pt x="5494020" y="43434"/>
                  </a:cubicBezTo>
                  <a:lnTo>
                    <a:pt x="5481320" y="43434"/>
                  </a:lnTo>
                  <a:lnTo>
                    <a:pt x="5494020" y="43434"/>
                  </a:lnTo>
                  <a:lnTo>
                    <a:pt x="5494020" y="3148711"/>
                  </a:lnTo>
                  <a:lnTo>
                    <a:pt x="5481320" y="3148711"/>
                  </a:lnTo>
                  <a:lnTo>
                    <a:pt x="5494020" y="3148711"/>
                  </a:lnTo>
                  <a:cubicBezTo>
                    <a:pt x="5494020" y="3172714"/>
                    <a:pt x="5474462" y="3192145"/>
                    <a:pt x="5450459" y="3192145"/>
                  </a:cubicBezTo>
                  <a:lnTo>
                    <a:pt x="5450459" y="3179445"/>
                  </a:lnTo>
                  <a:lnTo>
                    <a:pt x="5450459" y="3192145"/>
                  </a:lnTo>
                  <a:lnTo>
                    <a:pt x="43561" y="3192145"/>
                  </a:lnTo>
                  <a:lnTo>
                    <a:pt x="43561" y="3179445"/>
                  </a:lnTo>
                  <a:lnTo>
                    <a:pt x="43561" y="3192145"/>
                  </a:lnTo>
                  <a:cubicBezTo>
                    <a:pt x="19558" y="3192145"/>
                    <a:pt x="0" y="3172714"/>
                    <a:pt x="0" y="3148711"/>
                  </a:cubicBezTo>
                  <a:lnTo>
                    <a:pt x="0" y="43434"/>
                  </a:lnTo>
                  <a:lnTo>
                    <a:pt x="12700" y="43434"/>
                  </a:lnTo>
                  <a:lnTo>
                    <a:pt x="0" y="43434"/>
                  </a:lnTo>
                  <a:moveTo>
                    <a:pt x="25400" y="43434"/>
                  </a:moveTo>
                  <a:lnTo>
                    <a:pt x="25400" y="3148711"/>
                  </a:lnTo>
                  <a:lnTo>
                    <a:pt x="12700" y="3148711"/>
                  </a:lnTo>
                  <a:lnTo>
                    <a:pt x="25400" y="3148711"/>
                  </a:lnTo>
                  <a:cubicBezTo>
                    <a:pt x="25400" y="3158617"/>
                    <a:pt x="33528" y="3166745"/>
                    <a:pt x="43561" y="3166745"/>
                  </a:cubicBezTo>
                  <a:lnTo>
                    <a:pt x="5450459" y="3166745"/>
                  </a:lnTo>
                  <a:cubicBezTo>
                    <a:pt x="5460492" y="3166745"/>
                    <a:pt x="5468620" y="3158617"/>
                    <a:pt x="5468620" y="3148711"/>
                  </a:cubicBezTo>
                  <a:lnTo>
                    <a:pt x="5468620" y="43434"/>
                  </a:lnTo>
                  <a:cubicBezTo>
                    <a:pt x="5468620" y="33528"/>
                    <a:pt x="5460492" y="25400"/>
                    <a:pt x="5450459" y="25400"/>
                  </a:cubicBezTo>
                  <a:lnTo>
                    <a:pt x="43561" y="25400"/>
                  </a:lnTo>
                  <a:lnTo>
                    <a:pt x="43561" y="12700"/>
                  </a:lnTo>
                  <a:lnTo>
                    <a:pt x="43561" y="25400"/>
                  </a:lnTo>
                  <a:cubicBezTo>
                    <a:pt x="33528" y="25400"/>
                    <a:pt x="25400" y="33528"/>
                    <a:pt x="25400" y="43434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1743286" y="536457"/>
            <a:ext cx="2629262" cy="973846"/>
          </a:xfrm>
          <a:custGeom>
            <a:avLst/>
            <a:gdLst/>
            <a:ahLst/>
            <a:cxnLst/>
            <a:rect r="r" b="b" t="t" l="l"/>
            <a:pathLst>
              <a:path h="973846" w="2629262">
                <a:moveTo>
                  <a:pt x="0" y="0"/>
                </a:moveTo>
                <a:lnTo>
                  <a:pt x="2629262" y="0"/>
                </a:lnTo>
                <a:lnTo>
                  <a:pt x="2629262" y="973846"/>
                </a:lnTo>
                <a:lnTo>
                  <a:pt x="0" y="9738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85635" r="-2401" b="-90836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26741" y="647109"/>
            <a:ext cx="10843986" cy="815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1"/>
              </a:lnSpc>
            </a:pPr>
            <a:r>
              <a:rPr lang="en-US" sz="5277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Vision-Based Connect-4 Robot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6741" y="1653178"/>
            <a:ext cx="12482960" cy="34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Image Processing Pipeline for Autonomous Game-State Extraction and Motor Control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84721" y="2318482"/>
            <a:ext cx="3185769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German University in Cairo (GUC)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5819" y="2729212"/>
            <a:ext cx="4623573" cy="17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1242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Faculty of Engineering &amp; Materials Science | Mechatronics Department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29595" y="2341481"/>
            <a:ext cx="717341" cy="21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4"/>
              </a:lnSpc>
            </a:pPr>
            <a:r>
              <a:rPr lang="en-US" sz="1396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Course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30378" y="2673705"/>
            <a:ext cx="4115773" cy="16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6"/>
              </a:lnSpc>
            </a:pPr>
            <a:r>
              <a:rPr lang="en-US" sz="1263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MCTR1010 - Image Processing for Mechatronics | Spring 2026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608631" y="2318482"/>
            <a:ext cx="1470073" cy="24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52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Team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158442" y="2682102"/>
            <a:ext cx="4370460" cy="38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379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Andrew Abdelmalak, Kirolous Kirolous, Daniel Boules, Samir Yacoub, David Girgis, Youssef Salama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01046" y="3315941"/>
            <a:ext cx="2476560" cy="27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17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Abstract &amp; Objectives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01046" y="3679199"/>
            <a:ext cx="5023569" cy="186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1242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Abstract:</a:t>
            </a:r>
            <a:r>
              <a:rPr lang="en-US" sz="1242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This project presents a finalized closed-loop Vision-Based Connect-4 Robot that integrates computer vision, minimax decision-making, and robotic actuation. A Raspberry Pi 4 processes overhead frames through an OpenCV pipeline (HSV segmentation and homography) to extract the game state with 98% per-cell accuracy. The system employs a trusted-state validator to reject illegal board transitions, ensuring robustness against environmental noise. Moves are calculated via a depth-5 minimax algorithm and executed by an Arduino-controlled dual-motor assembly. Experimental results confirm an average end-to-end task time of 7.5 seconds and a 95% successful token-placement rate, meeting all milestone objectives for autonomous operation.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01046" y="5668290"/>
            <a:ext cx="5482379" cy="17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1242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Project Objectives: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65821" y="5927922"/>
            <a:ext cx="5023569" cy="102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7429" indent="-93714" lvl="1">
              <a:lnSpc>
                <a:spcPts val="1373"/>
              </a:lnSpc>
              <a:buFont typeface="Arial"/>
              <a:buChar char="•"/>
            </a:pPr>
            <a:r>
              <a:rPr lang="en-US" sz="1242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Implemented a finalized closed-loop hardware system acting as a blackbox (input images/videos → output motor control)</a:t>
            </a:r>
          </a:p>
          <a:p>
            <a:pPr algn="l" marL="187429" indent="-93714" lvl="1">
              <a:lnSpc>
                <a:spcPts val="1373"/>
              </a:lnSpc>
              <a:buFont typeface="Arial"/>
              <a:buChar char="•"/>
            </a:pPr>
            <a:r>
              <a:rPr lang="en-US" sz="1242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Validated image processing techniques including HSV color segmentation, geometric transformations, and morphological cleanup</a:t>
            </a:r>
          </a:p>
          <a:p>
            <a:pPr algn="l" marL="187429" indent="-93714" lvl="1">
              <a:lnSpc>
                <a:spcPts val="1373"/>
              </a:lnSpc>
              <a:buFont typeface="Arial"/>
              <a:buChar char="•"/>
            </a:pPr>
            <a:r>
              <a:rPr lang="en-US" sz="1242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Measured target KPIs: action accuracy, operation speed, and detection robustness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421839" y="3324892"/>
            <a:ext cx="2473420" cy="28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72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Methodology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421839" y="3712993"/>
            <a:ext cx="5572162" cy="164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6"/>
              </a:lnSpc>
            </a:pPr>
            <a:r>
              <a:rPr lang="en-US" sz="1263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Perception &amp; Image Processing: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421839" y="3969610"/>
            <a:ext cx="5572162" cy="132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0498" indent="-95249" lvl="1">
              <a:lnSpc>
                <a:spcPts val="1396"/>
              </a:lnSpc>
              <a:buFont typeface="Arial"/>
              <a:buChar char="•"/>
            </a:pPr>
            <a:r>
              <a:rPr lang="en-US" b="true" sz="126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Camera Setup:</a:t>
            </a:r>
            <a:r>
              <a:rPr lang="en-US" sz="1263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Overhead Pi Camera V2 captures RGB frames using a fixed black cardboard background to mitigate lighting limitations</a:t>
            </a:r>
          </a:p>
          <a:p>
            <a:pPr algn="l" marL="190498" indent="-95249" lvl="1">
              <a:lnSpc>
                <a:spcPts val="1396"/>
              </a:lnSpc>
              <a:buFont typeface="Arial"/>
              <a:buChar char="•"/>
            </a:pPr>
            <a:r>
              <a:rPr lang="en-US" b="true" sz="126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Pipeline:</a:t>
            </a:r>
            <a:r>
              <a:rPr lang="en-US" sz="1263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Includes affine rotation, perspective warping (homography mapping to an 800x800 square), Gaussian filtering (5x5 kernel), and HSV color thresholding</a:t>
            </a:r>
          </a:p>
          <a:p>
            <a:pPr algn="l" marL="190498" indent="-95249" lvl="1">
              <a:lnSpc>
                <a:spcPts val="1396"/>
              </a:lnSpc>
              <a:buFont typeface="Arial"/>
              <a:buChar char="•"/>
            </a:pPr>
            <a:r>
              <a:rPr lang="en-US" b="true" sz="126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State Extraction:</a:t>
            </a:r>
            <a:r>
              <a:rPr lang="en-US" sz="1263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Morphological opening/closing refines binary masks to generate a verified 6x7 game-state matrix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421839" y="5383783"/>
            <a:ext cx="5572162" cy="164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6"/>
              </a:lnSpc>
            </a:pPr>
            <a:r>
              <a:rPr lang="en-US" sz="1263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Cognition &amp; Actuation: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421839" y="5640401"/>
            <a:ext cx="5572162" cy="132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0498" indent="-95249" lvl="1">
              <a:lnSpc>
                <a:spcPts val="1396"/>
              </a:lnSpc>
              <a:buFont typeface="Arial"/>
              <a:buChar char="•"/>
            </a:pPr>
            <a:r>
              <a:rPr lang="en-US" b="true" sz="126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Decision Layer:</a:t>
            </a:r>
            <a:r>
              <a:rPr lang="en-US" sz="1263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Raspberry Pi 4 (4 GB) evaluates the matrix using Minimax with alpha-beta pruning</a:t>
            </a:r>
          </a:p>
          <a:p>
            <a:pPr algn="l" marL="190498" indent="-95249" lvl="1">
              <a:lnSpc>
                <a:spcPts val="1396"/>
              </a:lnSpc>
              <a:buFont typeface="Arial"/>
              <a:buChar char="•"/>
            </a:pPr>
            <a:r>
              <a:rPr lang="en-US" b="true" sz="126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Control Interface:</a:t>
            </a:r>
            <a:r>
              <a:rPr lang="en-US" sz="1263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Column selection is serialized and transmitted via USB to an Arduino Uno at 9600 baud</a:t>
            </a:r>
          </a:p>
          <a:p>
            <a:pPr algn="l" marL="190498" indent="-95249" lvl="1">
              <a:lnSpc>
                <a:spcPts val="1396"/>
              </a:lnSpc>
              <a:buFont typeface="Arial"/>
              <a:buChar char="•"/>
            </a:pPr>
            <a:r>
              <a:rPr lang="en-US" b="true" sz="1263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Hardware Assembly:</a:t>
            </a:r>
            <a:r>
              <a:rPr lang="en-US" sz="1263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Mechanical frame modeled in SolidWorks. Actuation utilizes NEMA 17 steppers (via L298N drivers) for the pusher and an SG90 micro-servo for the column-selection gate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117054" y="3290575"/>
            <a:ext cx="3076572" cy="289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3"/>
              </a:lnSpc>
            </a:pPr>
            <a:r>
              <a:rPr lang="en-US" sz="1887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Results &amp; Conclusions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01002" y="3662863"/>
            <a:ext cx="4557184" cy="19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379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Closed-Loop Results: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176590" y="3893894"/>
            <a:ext cx="3556742" cy="410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2305" indent="-81153" lvl="1">
              <a:lnSpc>
                <a:spcPts val="1189"/>
              </a:lnSpc>
              <a:buFont typeface="Arial"/>
              <a:buChar char="•"/>
            </a:pPr>
            <a:r>
              <a:rPr lang="en-US" b="true" sz="1076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Execution &amp; Processing Speeds: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Vision Pipeline: The Pi 4 handles core operations quickly: Rotation (8.47 ms), Perspective Warp (3.60 ms), and Gaussian Blur (0.76 ms). </a:t>
            </a:r>
          </a:p>
          <a:p>
            <a:pPr algn="l" marL="162305" indent="-81153" lvl="1">
              <a:lnSpc>
                <a:spcPts val="1189"/>
              </a:lnSpc>
              <a:buFont typeface="Arial"/>
              <a:buChar char="•"/>
            </a:pP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Decision Speed: Minimax search at depth 5 typically completes in under 1 second. </a:t>
            </a:r>
          </a:p>
          <a:p>
            <a:pPr algn="l" marL="162305" indent="-81153" lvl="1">
              <a:lnSpc>
                <a:spcPts val="1189"/>
              </a:lnSpc>
              <a:buFont typeface="Arial"/>
              <a:buChar char="•"/>
            </a:pP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End-to-End Task Time: Th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e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t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otal cycl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e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—from 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ommand issue 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t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o verif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i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ed t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o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ke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n 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ement—averages 7.5 se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onds (ranging from a 3s minim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u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m to a 15s maximum in wo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r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st-c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a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se s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enarios).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  <a:p>
            <a:pPr algn="l" marL="162305" indent="-81153" lvl="1">
              <a:lnSpc>
                <a:spcPts val="1189"/>
              </a:lnSpc>
              <a:buFont typeface="Arial"/>
              <a:buChar char="•"/>
            </a:pPr>
            <a:r>
              <a:rPr lang="en-US" b="true" sz="1076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KP</a:t>
            </a:r>
            <a:r>
              <a:rPr lang="en-US" b="true" sz="1076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Is: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HSV (Rule-based): Achieved the highest reliability at 98% overall accuracy. </a:t>
            </a:r>
          </a:p>
          <a:p>
            <a:pPr algn="l" marL="162305" indent="-81153" lvl="1">
              <a:lnSpc>
                <a:spcPts val="1189"/>
              </a:lnSpc>
              <a:buFont typeface="Arial"/>
              <a:buChar char="•"/>
            </a:pP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Auto (Hybrid): Maintained a high 96% accuracy, successfully integrating machine learning with an HSV fallback. </a:t>
            </a:r>
          </a:p>
          <a:p>
            <a:pPr algn="l" marL="162305" indent="-81153" lvl="1">
              <a:lnSpc>
                <a:spcPts val="1189"/>
              </a:lnSpc>
              <a:buFont typeface="Arial"/>
              <a:buChar char="•"/>
            </a:pP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ML-only: Provided 91% accuracy, demonstrating robustness to hue drift despite lower absolute scores than HSV.</a:t>
            </a:r>
          </a:p>
          <a:p>
            <a:pPr algn="l" marL="162305" indent="-81153" lvl="1">
              <a:lnSpc>
                <a:spcPts val="1189"/>
              </a:lnSpc>
              <a:buFont typeface="Arial"/>
              <a:buChar char="•"/>
            </a:pPr>
            <a:r>
              <a:rPr lang="en-US" b="true" sz="1076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System Robustness in Scenarios:</a:t>
            </a: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Glare &amp; Lighting: The system successfully recovered from light sweeps within 1–2 frames thanks to the Exponential Moving Average (EMA) smoother and the validator. </a:t>
            </a:r>
          </a:p>
          <a:p>
            <a:pPr algn="l" marL="162305" indent="-81153" lvl="1">
              <a:lnSpc>
                <a:spcPts val="1189"/>
              </a:lnSpc>
              <a:buFont typeface="Arial"/>
              <a:buChar char="•"/>
            </a:pP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Illegal Moves: The Trusted State Validator successfully rejected all injected illegal transitions (e.g., "floating" chips) during mid-game testing. </a:t>
            </a:r>
          </a:p>
          <a:p>
            <a:pPr algn="l">
              <a:lnSpc>
                <a:spcPts val="1189"/>
              </a:lnSpc>
            </a:pPr>
          </a:p>
          <a:p>
            <a:pPr algn="l" marL="162305" indent="-81153" lvl="1">
              <a:lnSpc>
                <a:spcPts val="1189"/>
              </a:lnSpc>
              <a:buFont typeface="Arial"/>
              <a:buChar char="•"/>
            </a:pPr>
            <a:r>
              <a:rPr lang="en-US" sz="107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Error Handling: Post-move verification caught 100% of missed drops, placing the robot in a safe error state rather than continuing with a corrupted board.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101002" y="7997779"/>
            <a:ext cx="3704183" cy="15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21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Conclusion &amp; Limitations: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176590" y="8008051"/>
            <a:ext cx="3704183" cy="1236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9"/>
              </a:lnSpc>
            </a:pPr>
          </a:p>
          <a:p>
            <a:pPr algn="l" marL="169034" indent="-84517" lvl="1">
              <a:lnSpc>
                <a:spcPts val="1239"/>
              </a:lnSpc>
              <a:buFont typeface="Arial"/>
              <a:buChar char="•"/>
            </a:pPr>
            <a:r>
              <a:rPr lang="en-US" b="true" sz="112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Outcome:</a:t>
            </a:r>
            <a:r>
              <a:rPr lang="en-US" sz="112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Successfully built a closed-loop system where the camera serves as both the input sensor and the verification element. </a:t>
            </a:r>
          </a:p>
          <a:p>
            <a:pPr algn="l" marL="169034" indent="-84517" lvl="1">
              <a:lnSpc>
                <a:spcPts val="1239"/>
              </a:lnSpc>
              <a:buFont typeface="Arial"/>
              <a:buChar char="•"/>
            </a:pPr>
            <a:r>
              <a:rPr lang="en-US" b="true" sz="112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Limitation 1:</a:t>
            </a:r>
            <a:r>
              <a:rPr lang="en-US" sz="112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Time-based carriage movement (instead of encoder-closed) limits accuracy on outer columns. </a:t>
            </a:r>
          </a:p>
          <a:p>
            <a:pPr algn="l" marL="169034" indent="-84517" lvl="1">
              <a:lnSpc>
                <a:spcPts val="1239"/>
              </a:lnSpc>
              <a:buFont typeface="Arial"/>
              <a:buChar char="•"/>
            </a:pPr>
            <a:r>
              <a:rPr lang="en-US" b="true" sz="112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Limitation 2:</a:t>
            </a:r>
            <a:r>
              <a:rPr lang="en-US" sz="112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High sensitivity to specular highlights on the blue plastic frame.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01046" y="9394239"/>
            <a:ext cx="9826569" cy="175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6"/>
              </a:lnSpc>
            </a:pPr>
            <a:r>
              <a:rPr lang="en-US" sz="1245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Project Instructors:</a:t>
            </a:r>
            <a:r>
              <a:rPr lang="en-US" sz="124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Assoc. Prof. Dr. Eng. Omar M. Shehata, Eng. Dalia M. Mahfouz, PhD, Eng. Abdelrahman Hatem, MSc., and Eng. Mohammed Ashraf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07940" y="7057633"/>
            <a:ext cx="1870024" cy="227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1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Architecture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217471" y="7089073"/>
            <a:ext cx="2297611" cy="227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1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OpenCV Transformations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354588" y="7010008"/>
            <a:ext cx="1744713" cy="227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1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Hardware Testing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882392" y="9637127"/>
            <a:ext cx="14651055" cy="49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0"/>
              </a:lnSpc>
              <a:spcBef>
                <a:spcPct val="0"/>
              </a:spcBef>
            </a:pPr>
            <a:r>
              <a:rPr lang="en-US" b="true" sz="154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Andrew.abdelmalak@student.guc.edu.eg 55-22771; </a:t>
            </a:r>
            <a:r>
              <a:rPr lang="en-US" b="true" sz="154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Daniel.b</a:t>
            </a:r>
            <a:r>
              <a:rPr lang="en-US" b="true" sz="154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oules@student.guc.edu.eg 55-5055; David.girgis@student.guc.edu.eg 55-1481 Kirolous.kirolous@student.guc.edu.eg 55-18081; Samir.yacoub@student.guc.edu.eg 55-25111; youssef.salama@student.guc.edu.eg 55-0540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DAHI08fg-TQ</dc:identifier>
  <dcterms:modified xsi:type="dcterms:W3CDTF">2011-08-01T06:04:30Z</dcterms:modified>
  <cp:revision>1</cp:revision>
  <dc:title>Vision-Based-Connect-4-Robot (1).pptx</dc:title>
</cp:coreProperties>
</file>